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45" autoAdjust="0"/>
    <p:restoredTop sz="96814" autoAdjust="0"/>
  </p:normalViewPr>
  <p:slideViewPr>
    <p:cSldViewPr snapToGrid="0">
      <p:cViewPr varScale="1">
        <p:scale>
          <a:sx n="98" d="100"/>
          <a:sy n="98" d="100"/>
        </p:scale>
        <p:origin x="16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customXml" Target="../customXml/item1.xml" /><ns0:Relationship Id="rId2" Type="http://schemas.openxmlformats.org/officeDocument/2006/relationships/customXml" Target="../customXml/item2.xml" /><ns0:Relationship Id="rId3" Type="http://schemas.openxmlformats.org/officeDocument/2006/relationships/customXml" Target="../customXml/item3.xml" /><ns0:Relationship Id="rId4" Type="http://schemas.openxmlformats.org/officeDocument/2006/relationships/slideMaster" Target="slideMasters/slideMaster1.xml" /><ns0:Relationship Id="rId5" Type="http://schemas.openxmlformats.org/officeDocument/2006/relationships/slide" Target="slides/slide1.xml" /><ns0:Relationship Id="rId6" Type="http://schemas.openxmlformats.org/officeDocument/2006/relationships/notesMaster" Target="notesMasters/notesMaster1.xml" /><ns0:Relationship Id="rId7" Type="http://schemas.openxmlformats.org/officeDocument/2006/relationships/presProps" Target="presProps.xml" /><ns0:Relationship Id="rId8" Type="http://schemas.openxmlformats.org/officeDocument/2006/relationships/viewProps" Target="viewProps.xml" /><ns0:Relationship Id="rId9" Type="http://schemas.openxmlformats.org/officeDocument/2006/relationships/theme" Target="theme/theme1.xml" /><ns0:Relationship Id="rId10" Type="http://schemas.openxmlformats.org/officeDocument/2006/relationships/tableStyles" Target="tableStyles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4448D-1CA6-40CB-B9FD-4F7FD66550A2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2B622-8D7E-4960-BE66-370F12D09C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702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2B622-8D7E-4960-BE66-370F12D09C6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4047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5EC3-F427-0983-CC9A-87A5D34E2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FF2BB-E962-8AA5-F888-082ED872A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1007-433A-D9FF-DF65-443848B8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EDF15-45A1-C3F9-3676-C81B88E3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43310-6D8E-60F9-A66B-FE69B1E8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215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01E0-A819-8ABD-F5EC-6EA01837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AE7E1-8342-C862-687C-208554BDF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D9FA6-DADE-C490-12D1-A309B8B0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1C0D8-224B-519F-8C43-A231FEA7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B8C7-33CB-782C-E57D-9B95CD09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440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9BB7-4F39-CEFE-D379-8A22F35E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FEF77-D993-C54E-80C8-0A019E421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26CBC-4F58-99FD-3DA3-8AB80AA9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6ADAD-3F16-6B99-F3AE-422F8A0EB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F5838-97A4-7981-3EB5-90FBED3D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538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8C84-78A3-AF7D-418B-BF8B2358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1340-157A-11E2-946A-D36942F31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1459B-2E96-AF18-B505-88BECEDE8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49792-2BC0-FD0D-CE56-F4888D9C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0EEE6-AF16-4B75-4350-8517A937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20F15-8EBE-0716-AA01-0465A02B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038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EE4A-E6D0-817C-244B-70BF5131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939FB-7C3E-4E37-D2AB-3E5984B8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3443F-2AAC-3875-11CF-43BE5BF2F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ED1C0-8BDB-F017-A0D4-9CB7346DE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B9CBA-A6BC-3A65-C6FA-D348D24BA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717CC-1B00-D0F4-7C96-D77F3858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BBD98-A49F-DC7B-F20A-7ABB5348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AA420D-CFE6-8CE9-97E2-45ED8677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814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4274-A153-656F-A270-853E0459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274A8-4054-EF65-5DFE-61455BEC8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00585-BFA9-C7AA-E99C-40D0A36A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FEF9F-1665-65F5-0112-50E7A78F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466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7E087-BCD4-C9AE-62FD-21D09184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C12B7-53AF-E28C-8E9E-C9C381AA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F8D6-F709-FBC5-CD47-05E5B27E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91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DDDA-D934-F5F1-651F-C18FA542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1676-0A7B-DD83-9366-1D46D1627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E59A5-D752-C473-1D41-1F60B61DF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C39E5-2B7E-352E-5F47-604F7424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E756C-65D3-93C9-7488-76225262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B9BA8-456E-FA3B-FF8A-1112AC71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89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62A6-889F-A8B1-5439-7B31D791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CAFA9D-7EB1-F1F7-0028-888B7FBFD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44169-FCD5-D3D4-1FA8-37027DA67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DE36E-E126-31C2-19F6-92C04649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A5E7A-F6B6-7841-7603-ADAF69EC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BD8B6-3C3A-4371-9EF9-6678EB45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790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C33A-34A9-2952-2093-B7316DCC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62244-D9DB-9ACA-037A-8312CD195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B8138-F8CE-7407-7C34-B7570E23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27EF-DE19-B470-0362-E2225624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F05F-FD32-07E9-89A5-7B19FF0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10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26871C-A4EE-C889-29C2-CFAC03843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1912C-40B6-E89E-85DE-D056CEB39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1CBD-362E-AD05-A0CA-C8ADBF8D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8B9CD-05AF-ED67-5B08-3906F53E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220E4-B814-A43F-9E86-0068DC24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722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FCE9CE-8305-62EF-02CD-B3D2A791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1A937-C7F3-C883-F2CD-91DA9F971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4FABE-CC5B-110A-F3F1-58FC07A28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C179F-AF74-42AC-8980-D93BFF873B1A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870AD-B294-C43B-34E2-CE7968DE4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D8A11-0A51-98CC-42AE-663A11445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94CC1-F3F3-4CA8-8D7F-B599D81A6A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462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7C6F46-8B4D-2798-39E2-AD6AFF476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698088"/>
              </p:ext>
            </p:extLst>
          </p:nvPr>
        </p:nvGraphicFramePr>
        <p:xfrm>
          <a:off x="4931359" y="702259"/>
          <a:ext cx="6720840" cy="3111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">
                  <a:extLst>
                    <a:ext uri="{9D8B030D-6E8A-4147-A177-3AD203B41FA5}">
                      <a16:colId xmlns:a16="http://schemas.microsoft.com/office/drawing/2014/main" val="17387867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770349248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5253079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4058905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5683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26770460"/>
                    </a:ext>
                  </a:extLst>
                </a:gridCol>
              </a:tblGrid>
              <a:tr h="310896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00" b="1">
                          <a:solidFill>
                            <a:srgbClr val="FFFFFF"/>
                          </a:solidFill>
                        </a:rPr>
                        <a:t>RAID</a:t>
                      </a:r>
                      <a:endParaRPr lang="en-CA" sz="12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CA" sz="12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00" b="1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CA" sz="12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CA" sz="12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00" b="1">
                          <a:solidFill>
                            <a:srgbClr val="FFFFFF"/>
                          </a:solidFill>
                        </a:rPr>
                        <a:t>Assigned</a:t>
                      </a:r>
                      <a:endParaRPr lang="en-CA" sz="12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00" b="1">
                          <a:solidFill>
                            <a:srgbClr val="FFFFFF"/>
                          </a:solidFill>
                        </a:rPr>
                        <a:t>Due</a:t>
                      </a:r>
                      <a:endParaRPr lang="en-CA" sz="12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108120"/>
                  </a:ext>
                </a:extLst>
              </a:tr>
              <a:tr h="560161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Risk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80" b="1">
                          <a:latin typeface="+mn-lt"/>
                        </a:rPr>
                        <a:t>Stakeholder availability</a:t>
                      </a:r>
                      <a:r>
                        <a:rPr sz="819" b="0">
                          <a:latin typeface="+mn-lt"/>
                        </a:rPr>
                        <a:t>
Status: Limited availability may slow design decisions and approvals.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High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In Progress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Client Team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2025-10-17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49645"/>
                  </a:ext>
                </a:extLst>
              </a:tr>
              <a:tr h="560161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Risk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80" b="1">
                          <a:latin typeface="+mn-lt"/>
                        </a:rPr>
                        <a:t>Configuration inputs</a:t>
                      </a:r>
                      <a:r>
                        <a:rPr sz="819" b="0">
                          <a:latin typeface="+mn-lt"/>
                        </a:rPr>
                        <a:t>
Status: Outstanding configuration inputs may delay setup or cause rework.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High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In Progress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Client Team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69" b="0" i="0" u="none">
                          <a:latin typeface="Aptos"/>
                        </a:rPr>
                        <a:t>2025-10-17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291248"/>
                  </a:ext>
                </a:extLst>
              </a:tr>
              <a:tr h="560161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Action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80" b="1"/>
                        <a:t>Testing preparation</a:t>
                      </a:r>
                      <a:r>
                        <a:rPr sz="819" b="0"/>
                        <a:t>
Status: The team is validating test cases and training materials before UAT.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Normal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Ready for UAT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Project Team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69" b="0" i="0" u="none">
                          <a:latin typeface="Aptos"/>
                        </a:rPr>
                        <a:t>2025-10-31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99160"/>
                  </a:ext>
                </a:extLst>
              </a:tr>
              <a:tr h="560161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Issue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80" b="1"/>
                        <a:t>Integration field mapping</a:t>
                      </a:r>
                      <a:r>
                        <a:rPr sz="819" b="0"/>
                        <a:t>
Status: The team is confirming required fields for the sample integration.</a:t>
                      </a:r>
                      <a:endParaRPr lang="en-CA" sz="1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Client Review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Project Team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69" b="0" i="0" u="none">
                          <a:latin typeface="Aptos"/>
                        </a:rPr>
                        <a:t>2025-10-24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707903"/>
                  </a:ext>
                </a:extLst>
              </a:tr>
              <a:tr h="560163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80" b="1">
                          <a:latin typeface="+mn-lt"/>
                        </a:rPr>
                        <a:t>Account mapping</a:t>
                      </a:r>
                      <a:r>
                        <a:rPr sz="819" b="0">
                          <a:latin typeface="+mn-lt"/>
                        </a:rPr>
                        <a:t>
Status: The project team is reviewing the revised account mapping.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69" b="0">
                          <a:latin typeface="+mn-lt"/>
                        </a:rPr>
                        <a:t>Project Team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69" b="0" i="0" u="none">
                          <a:latin typeface="Aptos"/>
                        </a:rPr>
                        <a:t>2025-10-17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393215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6D3F61C9-F1D3-ECB3-2C10-A0596B1854F8}"/>
              </a:ext>
            </a:extLst>
          </p:cNvPr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25C4AD-586B-5ED9-0299-0E030AECFDAC}"/>
              </a:ext>
            </a:extLst>
          </p:cNvPr>
          <p:cNvSpPr/>
          <p:nvPr/>
        </p:nvSpPr>
        <p:spPr>
          <a:xfrm>
            <a:off x="11926824" y="0"/>
            <a:ext cx="265176" cy="685800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C812AC1-AC0E-2106-C58E-72BBB89C9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525402"/>
              </p:ext>
            </p:extLst>
          </p:nvPr>
        </p:nvGraphicFramePr>
        <p:xfrm>
          <a:off x="545896" y="702259"/>
          <a:ext cx="4186123" cy="31117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926">
                  <a:extLst>
                    <a:ext uri="{9D8B030D-6E8A-4147-A177-3AD203B41FA5}">
                      <a16:colId xmlns:a16="http://schemas.microsoft.com/office/drawing/2014/main" val="17387867"/>
                    </a:ext>
                  </a:extLst>
                </a:gridCol>
                <a:gridCol w="2946197">
                  <a:extLst>
                    <a:ext uri="{9D8B030D-6E8A-4147-A177-3AD203B41FA5}">
                      <a16:colId xmlns:a16="http://schemas.microsoft.com/office/drawing/2014/main" val="770349248"/>
                    </a:ext>
                  </a:extLst>
                </a:gridCol>
              </a:tblGrid>
              <a:tr h="269748">
                <a:tc>
                  <a:txBody>
                    <a:bodyPr wrap="square">
                      <a:noAutofit/>
                    </a:bodyPr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chemeClr val="bg1"/>
                          </a:solidFill>
                          <a:latin typeface="Bahnschrift"/>
                        </a:rPr>
                        <a:t>Project Name</a:t>
                      </a:r>
                      <a:endParaRPr lang="en-CA" sz="1050" b="1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200" b="1">
                          <a:latin typeface="Bahnschrift"/>
                        </a:rPr>
                        <a:t>Sample Implementation Project</a:t>
                      </a:r>
                      <a:endParaRPr lang="en-CA" sz="1200" b="1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08120"/>
                  </a:ext>
                </a:extLst>
              </a:tr>
              <a:tr h="255117">
                <a:tc>
                  <a:txBody>
                    <a:bodyPr wrap="square">
                      <a:noAutofit/>
                    </a:bodyPr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chemeClr val="bg1"/>
                          </a:solidFill>
                          <a:latin typeface="Bahnschrift"/>
                        </a:rPr>
                        <a:t>Project Manager</a:t>
                      </a:r>
                      <a:endParaRPr lang="en-CA" sz="1050" b="1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100">
                          <a:latin typeface="Bahnschrift"/>
                        </a:rPr>
                        <a:t>Project Manager</a:t>
                      </a:r>
                      <a:endParaRPr lang="en-CA" sz="11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49645"/>
                  </a:ext>
                </a:extLst>
              </a:tr>
              <a:tr h="255117"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050" b="1">
                          <a:solidFill>
                            <a:schemeClr val="bg1"/>
                          </a:solidFill>
                          <a:latin typeface="Bahnschrift"/>
                        </a:rPr>
                        <a:t>Project Sponsor</a:t>
                      </a:r>
                      <a:endParaRPr lang="en-CA" sz="105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100">
                          <a:latin typeface="Bahnschrift"/>
                        </a:rPr>
                        <a:t>Executive Sponsor</a:t>
                      </a:r>
                      <a:endParaRPr lang="en-CA" sz="11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67035"/>
                  </a:ext>
                </a:extLst>
              </a:tr>
              <a:tr h="255117">
                <a:tc>
                  <a:txBody>
                    <a:bodyPr wrap="square">
                      <a:noAutofit/>
                    </a:bodyPr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chemeClr val="bg1"/>
                          </a:solidFill>
                          <a:latin typeface="Bahnschrift"/>
                        </a:rPr>
                        <a:t>Date</a:t>
                      </a:r>
                      <a:endParaRPr lang="en-CA" sz="1050" b="1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100">
                          <a:latin typeface="Bahnschrift"/>
                        </a:rPr>
                        <a:t>October 10, 2025</a:t>
                      </a:r>
                      <a:endParaRPr lang="en-CA" sz="11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04465"/>
                  </a:ext>
                </a:extLst>
              </a:tr>
              <a:tr h="255117">
                <a:tc>
                  <a:txBody>
                    <a:bodyPr wrap="square">
                      <a:noAutofit/>
                    </a:bodyPr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chemeClr val="bg1"/>
                          </a:solidFill>
                          <a:latin typeface="Bahnschrift"/>
                        </a:rPr>
                        <a:t>Go-Live Date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1100">
                          <a:latin typeface="Bahnschrift"/>
                        </a:rPr>
                        <a:t>April 3,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22164"/>
                  </a:ext>
                </a:extLst>
              </a:tr>
              <a:tr h="390448">
                <a:tc rowSpan="2">
                  <a:txBody>
                    <a:bodyPr wrap="square">
                      <a:noAutofit/>
                    </a:bodyPr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chemeClr val="bg1"/>
                          </a:solidFill>
                          <a:latin typeface="Bahnschrift"/>
                        </a:rPr>
                        <a:t>Project Status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 rowSpan="2">
                  <a:txBody>
                    <a:bodyPr wrap="square">
                      <a:noAutofit/>
                    </a:bodyPr>
                    <a:lstStyle/>
                    <a:p>
                      <a:pPr/>
                      <a:r>
                        <a:rPr sz="800">
                          <a:latin typeface="Bahnschrift"/>
                        </a:rPr>
                        <a:t>The sample project is progressing through configuration and design. The next focus is completing validation activities and preparing for user acceptance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8390"/>
                  </a:ext>
                </a:extLst>
              </a:tr>
              <a:tr h="1431039">
                <a:tc vMerge="1">
                  <a:txBody>
                    <a:bodyPr wrap="square">
                      <a:noAutofit/>
                    </a:bodyPr>
                    <a:lstStyle/>
                    <a:p/>
                  </a:txBody>
                  <a:tcPr>
                    <a:solidFill>
                      <a:schemeClr val="tx2"/>
                    </a:solidFill>
                  </a:tcPr>
                </a:tc>
                <a:tc vMerge="1">
                  <a:txBody>
                    <a:bodyPr wrap="square">
                      <a:noAutofit/>
                    </a:bodyPr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291248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BBE5F8CD-B5BB-490D-3476-B27DEC0DE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6407324"/>
            <a:ext cx="1182624" cy="45067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67CB873-CFF3-2DAF-35EB-5608E1C38B66}"/>
              </a:ext>
            </a:extLst>
          </p:cNvPr>
          <p:cNvSpPr txBox="1"/>
          <p:nvPr/>
        </p:nvSpPr>
        <p:spPr>
          <a:xfrm>
            <a:off x="496243" y="59734"/>
            <a:ext cx="4015677" cy="4308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/>
            <a:r>
              <a:rPr sz="2200" b="1">
                <a:solidFill>
                  <a:schemeClr val="bg1">
                    <a:lumMod val="50000"/>
                  </a:schemeClr>
                </a:solidFill>
                <a:latin typeface="Bahnschrift"/>
              </a:rPr>
              <a:t>Weekly Project Status Report</a:t>
            </a:r>
            <a:endParaRPr lang="en-CA" sz="2200" b="1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809AF4-A2D1-7300-1C2F-CB5452B1661B}"/>
              </a:ext>
            </a:extLst>
          </p:cNvPr>
          <p:cNvCxnSpPr>
            <a:cxnSpLocks/>
          </p:cNvCxnSpPr>
          <p:nvPr/>
        </p:nvCxnSpPr>
        <p:spPr>
          <a:xfrm>
            <a:off x="546100" y="518053"/>
            <a:ext cx="3915964" cy="1"/>
          </a:xfrm>
          <a:prstGeom prst="line">
            <a:avLst/>
          </a:prstGeom>
          <a:ln w="76200" cmpd="thinThick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74320" y="5941770"/>
            <a:ext cx="1600200" cy="9162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7648" y="3951122"/>
            <a:ext cx="10496397" cy="199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7648" y="4134002"/>
            <a:ext cx="10496397" cy="1807768"/>
          </a:xfrm>
          <a:prstGeom prst="rect">
            <a:avLst/>
          </a:prstGeom>
          <a:solidFill>
            <a:srgbClr val="FFFFFF"/>
          </a:solidFill>
          <a:ln w="6350">
            <a:solidFill>
              <a:srgbClr val="A8A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" y="4134002"/>
            <a:ext cx="3108960" cy="329184"/>
          </a:xfrm>
          <a:prstGeom prst="rect">
            <a:avLst/>
          </a:prstGeom>
          <a:solidFill>
            <a:srgbClr val="0C2A43"/>
          </a:solidFill>
          <a:ln>
            <a:noFill/>
          </a:ln>
        </p:spPr>
        <p:txBody>
          <a:bodyPr wrap="non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Current &amp; Upcoming Deliverables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6608" y="4134002"/>
            <a:ext cx="1234440" cy="329184"/>
          </a:xfrm>
          <a:prstGeom prst="rect">
            <a:avLst/>
          </a:prstGeom>
          <a:solidFill>
            <a:srgbClr val="0C2A43"/>
          </a:solidFill>
          <a:ln>
            <a:noFill/>
          </a:ln>
        </p:spPr>
        <p:txBody>
          <a:bodyPr wrap="non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1048" y="4134002"/>
            <a:ext cx="683666" cy="329184"/>
          </a:xfrm>
          <a:prstGeom prst="rect">
            <a:avLst/>
          </a:prstGeom>
          <a:solidFill>
            <a:srgbClr val="006879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Oct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4714" y="4134002"/>
            <a:ext cx="683666" cy="329184"/>
          </a:xfrm>
          <a:prstGeom prst="rect">
            <a:avLst/>
          </a:prstGeom>
          <a:solidFill>
            <a:srgbClr val="0C2A43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Oct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8380" y="4134002"/>
            <a:ext cx="683666" cy="329184"/>
          </a:xfrm>
          <a:prstGeom prst="rect">
            <a:avLst/>
          </a:prstGeom>
          <a:solidFill>
            <a:srgbClr val="006879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Oct 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7" y="4134002"/>
            <a:ext cx="683666" cy="329184"/>
          </a:xfrm>
          <a:prstGeom prst="rect">
            <a:avLst/>
          </a:prstGeom>
          <a:solidFill>
            <a:srgbClr val="0C2A43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Oct 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5713" y="4134002"/>
            <a:ext cx="683666" cy="329184"/>
          </a:xfrm>
          <a:prstGeom prst="rect">
            <a:avLst/>
          </a:prstGeom>
          <a:solidFill>
            <a:srgbClr val="006879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Nov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09379" y="4134002"/>
            <a:ext cx="683666" cy="329184"/>
          </a:xfrm>
          <a:prstGeom prst="rect">
            <a:avLst/>
          </a:prstGeom>
          <a:solidFill>
            <a:srgbClr val="0C2A43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Nov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3046" y="4134002"/>
            <a:ext cx="683666" cy="329184"/>
          </a:xfrm>
          <a:prstGeom prst="rect">
            <a:avLst/>
          </a:prstGeom>
          <a:solidFill>
            <a:srgbClr val="006879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Nov 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76712" y="4134002"/>
            <a:ext cx="683666" cy="329184"/>
          </a:xfrm>
          <a:prstGeom prst="rect">
            <a:avLst/>
          </a:prstGeom>
          <a:solidFill>
            <a:srgbClr val="0C2A43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Nov 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60378" y="4134002"/>
            <a:ext cx="683666" cy="329184"/>
          </a:xfrm>
          <a:prstGeom prst="rect">
            <a:avLst/>
          </a:prstGeom>
          <a:solidFill>
            <a:srgbClr val="006879"/>
          </a:solidFill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Dec 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7648" y="4463186"/>
            <a:ext cx="10496397" cy="295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7648" y="4463186"/>
            <a:ext cx="310896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43494D"/>
                </a:solidFill>
                <a:latin typeface="Arial"/>
              </a:rPr>
              <a:t>Account Structure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6608" y="4463186"/>
            <a:ext cx="123444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43494D"/>
                </a:solidFill>
                <a:latin typeface="Arial"/>
              </a:rPr>
              <a:t>Project Team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91048" y="4537115"/>
            <a:ext cx="1757999" cy="14785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91048" y="4537115"/>
            <a:ext cx="1318499" cy="14785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7648" y="4758902"/>
            <a:ext cx="10496397" cy="295716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" y="4758902"/>
            <a:ext cx="310896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43494D"/>
                </a:solidFill>
                <a:latin typeface="Arial"/>
              </a:rPr>
              <a:t>Application Configuration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56608" y="4758902"/>
            <a:ext cx="123444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43494D"/>
                </a:solidFill>
                <a:latin typeface="Arial"/>
              </a:rPr>
              <a:t>Implementatio...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1048" y="4832832"/>
            <a:ext cx="3808998" cy="14785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91048" y="4832832"/>
            <a:ext cx="1714049" cy="14785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7648" y="5054619"/>
            <a:ext cx="10496397" cy="295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7648" y="5054619"/>
            <a:ext cx="310896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43494D"/>
                </a:solidFill>
                <a:latin typeface="Arial"/>
              </a:rPr>
              <a:t>Integration 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6608" y="5054619"/>
            <a:ext cx="123444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43494D"/>
                </a:solidFill>
                <a:latin typeface="Arial"/>
              </a:rPr>
              <a:t>Technical Team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91048" y="5128548"/>
            <a:ext cx="2441665" cy="14785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91048" y="5128548"/>
            <a:ext cx="854582" cy="14785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7648" y="5350336"/>
            <a:ext cx="10496397" cy="295716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7648" y="5350336"/>
            <a:ext cx="310896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43494D"/>
                </a:solidFill>
                <a:latin typeface="Arial"/>
              </a:rPr>
              <a:t>Data Conversion Validation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56608" y="5350336"/>
            <a:ext cx="123444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43494D"/>
                </a:solidFill>
                <a:latin typeface="Arial"/>
              </a:rPr>
              <a:t>Project Team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74714" y="5424265"/>
            <a:ext cx="3808998" cy="14785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74714" y="5424265"/>
            <a:ext cx="380899" cy="14785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7648" y="5646053"/>
            <a:ext cx="10496397" cy="295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7648" y="5646053"/>
            <a:ext cx="310896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43494D"/>
                </a:solidFill>
                <a:latin typeface="Arial"/>
              </a:rPr>
              <a:t>UAT and Training Preparation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56608" y="5646053"/>
            <a:ext cx="1234440" cy="295716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43494D"/>
                </a:solidFill>
                <a:latin typeface="Arial"/>
              </a:rPr>
              <a:t>Client Team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58380" y="5719982"/>
            <a:ext cx="2441665" cy="14785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00211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43A4239E4FFB41A70A6FE8BBF97D55" ma:contentTypeVersion="14" ma:contentTypeDescription="Create a new document." ma:contentTypeScope="" ma:versionID="909effb77a0c6629404218e068ea196f">
  <xsd:schema xmlns:xsd="http://www.w3.org/2001/XMLSchema" xmlns:xs="http://www.w3.org/2001/XMLSchema" xmlns:p="http://schemas.microsoft.com/office/2006/metadata/properties" xmlns:ns2="7b6b51ba-810b-4b61-9932-3b50424713dc" xmlns:ns3="3a1c393b-adf7-403c-a525-075f4225ab4c" targetNamespace="http://schemas.microsoft.com/office/2006/metadata/properties" ma:root="true" ma:fieldsID="e14b1be938020714748595d33a48d092" ns2:_="" ns3:_="">
    <xsd:import namespace="7b6b51ba-810b-4b61-9932-3b50424713dc"/>
    <xsd:import namespace="3a1c393b-adf7-403c-a525-075f4225ab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b51ba-810b-4b61-9932-3b50424713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522c4878-0739-4a08-9098-f17230e3b2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1c393b-adf7-403c-a525-075f4225ab4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ee08e51-5f6d-494c-8d53-32402f4a613b}" ma:internalName="TaxCatchAll" ma:showField="CatchAllData" ma:web="3a1c393b-adf7-403c-a525-075f4225ab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1c393b-adf7-403c-a525-075f4225ab4c" xsi:nil="true"/>
    <lcf76f155ced4ddcb4097134ff3c332f xmlns="7b6b51ba-810b-4b61-9932-3b50424713d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7F2645-8E31-4C81-9850-EC9BB73123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6b51ba-810b-4b61-9932-3b50424713dc"/>
    <ds:schemaRef ds:uri="3a1c393b-adf7-403c-a525-075f4225ab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163484-348F-484D-8E60-FA4A5FDBACF0}">
  <ds:schemaRefs>
    <ds:schemaRef ds:uri="http://purl.org/dc/terms/"/>
    <ds:schemaRef ds:uri="3a1c393b-adf7-403c-a525-075f4225ab4c"/>
    <ds:schemaRef ds:uri="http://purl.org/dc/elements/1.1/"/>
    <ds:schemaRef ds:uri="7b6b51ba-810b-4b61-9932-3b50424713dc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ECA7B1-5586-4318-8945-73984B8F63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4410</TotalTime>
  <Words>218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Bahnschrift</vt:lpstr>
      <vt:lpstr>Office Theme</vt:lpstr>
      <vt:lpstr>Microsoft Excel 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Project Dashboard Template</dc:title>
  <dc:creator>Professional Services</dc:creator>
  <cp:lastModifiedBy>Professional Services</cp:lastModifiedBy>
  <cp:revision>48</cp:revision>
  <dcterms:created xsi:type="dcterms:W3CDTF">2025-02-18T12:20:39Z</dcterms:created>
  <dcterms:modified xsi:type="dcterms:W3CDTF">2025-10-02T18:47:05Z</dcterms:modified>
  <dc:subject>Sanitized template for the Weekly Project Dashboard Generator</dc:subject>
  <dc:description>Sanitized generic template. Do not add client data to this file.</dc:description>
  <cp:keywords>weekly dashboard, project status, sanitized template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0x010100C643A4239E4FFB41A70A6FE8BBF97D55</vt:lpwstr>
  </property>
</Properties>
</file>